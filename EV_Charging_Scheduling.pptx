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e73a5291-5c1d-e981-ec96-c2f16c39637f}">
          <p14:sldIdLst>
            <p14:sldId id="256"/>
          </p14:sldIdLst>
        </p14:section>
        <p14:section name="Content" id="{2263f274-df4d-939a-2245-1896e8b52cea}">
          <p14:sldIdLst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B1F2A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0B1F2A"/>
                </a:solidFill>
                <a:latin typeface="+mn-lt"/>
              </a:rPr>
              <a:t>Total simulated cost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simulated cost</c:v>
                </c:pt>
              </c:strCache>
            </c:strRef>
          </c:tx>
          <c:spPr>
            <a:solidFill>
              <a:srgbClr val="00B38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0B1F2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0B38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C7293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Greedy</c:v>
                  </c:pt>
                  <c:pt idx="1">
                    <c:v>Dynamic Programming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72</c:v>
                </c:pt>
                <c:pt idx="1">
                  <c:v>82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400" u="none">
                  <a:solidFill>
                    <a:srgbClr val="0B1F2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B1F2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E1ECE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F78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Project overview: a Python simulation that schedules EV charging requests on limited chargers, comparing a greedy and a dynamic-programming strategy.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B1F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FB4B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b="1" dirty="0">
                <a:solidFill>
                  <a:srgbClr val="0B1F2A"/>
                </a:solidFill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F7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FB4B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ing"/>
          <p:cNvSpPr/>
          <p:nvPr/>
        </p:nvSpPr>
        <p:spPr>
          <a:xfrm>
            <a:off x="6035040" y="822960"/>
            <a:ext cx="2926080" cy="2926080"/>
          </a:xfrm>
          <a:prstGeom prst="ellipse">
            <a:avLst/>
          </a:prstGeom>
          <a:solidFill>
            <a:schemeClr val="accent1">
              <a:alpha val="20000"/>
            </a:schemeClr>
          </a:solidFill>
          <a:ln w="25400">
            <a:solidFill>
              <a:schemeClr val="accent1"/>
            </a:solidFill>
            <a:prstDash val="solid"/>
          </a:ln>
        </p:spPr>
      </p:sp>
      <p:sp>
        <p:nvSpPr>
          <p:cNvPr id="3" name="Core"/>
          <p:cNvSpPr/>
          <p:nvPr/>
        </p:nvSpPr>
        <p:spPr>
          <a:xfrm>
            <a:off x="6583680" y="1371600"/>
            <a:ext cx="1828800" cy="18288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583680" y="137160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dirty="0">
                <a:solidFill>
                  <a:srgbClr val="0B1F2A"/>
                </a:solidFill>
              </a:rPr>
              <a:t>⚡</a:t>
            </a:r>
            <a:endParaRPr lang="en-US" sz="6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K L UNIVERSITY  |  DEPT. OF AI &amp; DATA SCIENCE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097280"/>
            <a:ext cx="5303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 Charging Station Scheduling &amp; Energy Optimization</a:t>
            </a:r>
            <a:endParaRPr lang="en-US" sz="3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92608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chemeClr val="accent1"/>
                </a:solidFill>
              </a:rPr>
              <a:t>Greedy vs. Dynamic Programming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84048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7C7CD"/>
                </a:solidFill>
              </a:rPr>
              <a:t>26CS5101E – Computational Thinking and Programming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7C7CD"/>
                </a:solidFill>
              </a:rPr>
              <a:t>M.Tech AI &amp; Data Science  •  Supervisor: Dr. G. Syam Prasad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FB4B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2A"/>
                </a:solidFill>
              </a:rPr>
              <a:t>The Problem: Many EVs, Few Chargers</a:t>
            </a:r>
            <a:endParaRPr lang="en-US" sz="3000" dirty="0"/>
          </a:p>
        </p:txBody>
      </p:sp>
      <p:sp>
        <p:nvSpPr>
          <p:cNvPr id="3" name="Problem card"/>
          <p:cNvSpPr/>
          <p:nvPr/>
        </p:nvSpPr>
        <p:spPr>
          <a:xfrm>
            <a:off x="457200" y="1234440"/>
            <a:ext cx="3291840" cy="329184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85800" y="141732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Each vehicle brings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783080"/>
            <a:ext cx="2834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An arrival time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 departure deadline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An energy demand (kWh)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 priority level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3291840"/>
            <a:ext cx="2834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Goal: assign non-overlapping sessions so each accepted EV gets its energy within its window.</a:t>
            </a:r>
            <a:endParaRPr lang="en-US" sz="1400" dirty="0"/>
          </a:p>
        </p:txBody>
      </p:sp>
      <p:sp>
        <p:nvSpPr>
          <p:cNvPr id="7" name="Num 1"/>
          <p:cNvSpPr/>
          <p:nvPr/>
        </p:nvSpPr>
        <p:spPr>
          <a:xfrm>
            <a:off x="4114800" y="128016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11480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4800600" y="1234440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Model requests &amp; stations with validated data classes</a:t>
            </a:r>
            <a:endParaRPr lang="en-US" sz="1400" dirty="0"/>
          </a:p>
        </p:txBody>
      </p:sp>
      <p:sp>
        <p:nvSpPr>
          <p:cNvPr id="10" name="Num 2"/>
          <p:cNvSpPr/>
          <p:nvPr/>
        </p:nvSpPr>
        <p:spPr>
          <a:xfrm>
            <a:off x="4114800" y="1956816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114800" y="19568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800600" y="1911096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Implement greedy and DP scheduling strategies</a:t>
            </a:r>
            <a:endParaRPr lang="en-US" sz="1400" dirty="0"/>
          </a:p>
        </p:txBody>
      </p:sp>
      <p:sp>
        <p:nvSpPr>
          <p:cNvPr id="13" name="Num 3"/>
          <p:cNvSpPr/>
          <p:nvPr/>
        </p:nvSpPr>
        <p:spPr>
          <a:xfrm>
            <a:off x="4114800" y="2633472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114800" y="2633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4800600" y="2587752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Respect time windows; no overlap on a station</a:t>
            </a:r>
            <a:endParaRPr lang="en-US" sz="1400" dirty="0"/>
          </a:p>
        </p:txBody>
      </p:sp>
      <p:sp>
        <p:nvSpPr>
          <p:cNvPr id="16" name="Num 4"/>
          <p:cNvSpPr/>
          <p:nvPr/>
        </p:nvSpPr>
        <p:spPr>
          <a:xfrm>
            <a:off x="4114800" y="3310128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114800" y="3310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4800600" y="3264408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Report energy, cost and rejected requests</a:t>
            </a:r>
            <a:endParaRPr lang="en-US" sz="1400" dirty="0"/>
          </a:p>
        </p:txBody>
      </p:sp>
      <p:sp>
        <p:nvSpPr>
          <p:cNvPr id="19" name="Num 5"/>
          <p:cNvSpPr/>
          <p:nvPr/>
        </p:nvSpPr>
        <p:spPr>
          <a:xfrm>
            <a:off x="4114800" y="3986784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114800" y="39867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4800600" y="3941064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Verify behaviour with automated tests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F7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2A"/>
                </a:solidFill>
              </a:rPr>
              <a:t>Computational Thinking Applied</a:t>
            </a:r>
            <a:endParaRPr lang="en-US" sz="3000" dirty="0"/>
          </a:p>
        </p:txBody>
      </p:sp>
      <p:sp>
        <p:nvSpPr>
          <p:cNvPr id="3" name="Card Decomposition"/>
          <p:cNvSpPr/>
          <p:nvPr/>
        </p:nvSpPr>
        <p:spPr>
          <a:xfrm>
            <a:off x="457200" y="1280160"/>
            <a:ext cx="4023360" cy="1463040"/>
          </a:xfrm>
          <a:prstGeom prst="roundRect">
            <a:avLst>
              <a:gd name="adj" fmla="val 6250"/>
            </a:avLst>
          </a:prstGeom>
          <a:solidFill>
            <a:schemeClr val="tx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85800" y="14630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Decomposition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92024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Models, validation, duration, overlap check, greedy, DP, result summary</a:t>
            </a:r>
            <a:endParaRPr lang="en-US" sz="1400" dirty="0"/>
          </a:p>
        </p:txBody>
      </p:sp>
      <p:sp>
        <p:nvSpPr>
          <p:cNvPr id="6" name="Card Abstraction"/>
          <p:cNvSpPr/>
          <p:nvPr/>
        </p:nvSpPr>
        <p:spPr>
          <a:xfrm>
            <a:off x="4663440" y="1280160"/>
            <a:ext cx="4023360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892040" y="14630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Abstraction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4892040" y="192024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vehicle = EVRequest; a station = power + cost per slot. No battery chemistry</a:t>
            </a:r>
            <a:endParaRPr lang="en-US" sz="1400" dirty="0"/>
          </a:p>
        </p:txBody>
      </p:sp>
      <p:sp>
        <p:nvSpPr>
          <p:cNvPr id="9" name="Card Pattern Recognition"/>
          <p:cNvSpPr/>
          <p:nvPr/>
        </p:nvSpPr>
        <p:spPr>
          <a:xfrm>
            <a:off x="457200" y="2926080"/>
            <a:ext cx="4023360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85800" y="31089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Pattern Recognition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356616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Same fields per request; one shared interval-overlap rule</a:t>
            </a:r>
            <a:endParaRPr lang="en-US" sz="1400" dirty="0"/>
          </a:p>
        </p:txBody>
      </p:sp>
      <p:sp>
        <p:nvSpPr>
          <p:cNvPr id="12" name="Card Algorithmic Thinking"/>
          <p:cNvSpPr/>
          <p:nvPr/>
        </p:nvSpPr>
        <p:spPr>
          <a:xfrm>
            <a:off x="4663440" y="2926080"/>
            <a:ext cx="4023360" cy="1463040"/>
          </a:xfrm>
          <a:prstGeom prst="roundRect">
            <a:avLst>
              <a:gd name="adj" fmla="val 6250"/>
            </a:avLst>
          </a:prstGeom>
          <a:solidFill>
            <a:schemeClr val="tx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892040" y="31089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Algorithmic Thinking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4892040" y="356616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Greedy: sort by urgency. DP: include-or-skip recurrence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F7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2A"/>
                </a:solidFill>
              </a:rPr>
              <a:t>Data Models &amp; Structures</a:t>
            </a:r>
            <a:endParaRPr lang="en-US" sz="3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840480"/>
                <a:gridCol w="256032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fields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2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EVRequest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vehicle_id, arrival, departure, energy_kWh, priority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Charging need and window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ChargingStation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station_id, power_per_slot, cost_per_slot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Capacity and simulated cost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ChargingSchedule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vehicle, station, start/end slot, energy, cost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scheduled session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ScheduleResult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schedules, rejected IDs, total kWh, total cost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 run outcome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3520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Structures used</a:t>
            </a:r>
            <a:endParaRPr lang="en-US" sz="1400" dirty="0"/>
          </a:p>
        </p:txBody>
      </p:sp>
      <p:sp>
        <p:nvSpPr>
          <p:cNvPr id="5" name="Chip List"/>
          <p:cNvSpPr/>
          <p:nvPr/>
        </p:nvSpPr>
        <p:spPr>
          <a:xfrm>
            <a:off x="457200" y="3840480"/>
            <a:ext cx="1920240" cy="731520"/>
          </a:xfrm>
          <a:prstGeom prst="roundRect">
            <a:avLst>
              <a:gd name="adj" fmla="val 10000"/>
            </a:avLst>
          </a:prstGeom>
          <a:solidFill>
            <a:schemeClr val="accent1">
              <a:alpha val="15000"/>
            </a:schemeClr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566928" y="384048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List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ordered requests &amp; schedules</a:t>
            </a:r>
            <a:endParaRPr lang="en-US" sz="1400" dirty="0"/>
          </a:p>
        </p:txBody>
      </p:sp>
      <p:sp>
        <p:nvSpPr>
          <p:cNvPr id="7" name="Chip Dict"/>
          <p:cNvSpPr/>
          <p:nvPr/>
        </p:nvSpPr>
        <p:spPr>
          <a:xfrm>
            <a:off x="2542032" y="3840480"/>
            <a:ext cx="1920240" cy="731520"/>
          </a:xfrm>
          <a:prstGeom prst="roundRect">
            <a:avLst>
              <a:gd name="adj" fmla="val 10000"/>
            </a:avLst>
          </a:prstGeom>
          <a:solidFill>
            <a:schemeClr val="accent1">
              <a:alpha val="15000"/>
            </a:schemeClr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2651760" y="384048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Dict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occupancy per station</a:t>
            </a:r>
            <a:endParaRPr lang="en-US" sz="1400" dirty="0"/>
          </a:p>
        </p:txBody>
      </p:sp>
      <p:sp>
        <p:nvSpPr>
          <p:cNvPr id="9" name="Chip Tuple"/>
          <p:cNvSpPr/>
          <p:nvPr/>
        </p:nvSpPr>
        <p:spPr>
          <a:xfrm>
            <a:off x="4626864" y="3840480"/>
            <a:ext cx="1920240" cy="731520"/>
          </a:xfrm>
          <a:prstGeom prst="roundRect">
            <a:avLst>
              <a:gd name="adj" fmla="val 10000"/>
            </a:avLst>
          </a:prstGeom>
          <a:solidFill>
            <a:schemeClr val="accent1">
              <a:alpha val="15000"/>
            </a:schemeClr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736592" y="384048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Tuple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intervals, candidates</a:t>
            </a:r>
            <a:endParaRPr lang="en-US" sz="1400" dirty="0"/>
          </a:p>
        </p:txBody>
      </p:sp>
      <p:sp>
        <p:nvSpPr>
          <p:cNvPr id="11" name="Chip Set"/>
          <p:cNvSpPr/>
          <p:nvPr/>
        </p:nvSpPr>
        <p:spPr>
          <a:xfrm>
            <a:off x="6711696" y="3840480"/>
            <a:ext cx="1920240" cy="731520"/>
          </a:xfrm>
          <a:prstGeom prst="roundRect">
            <a:avLst>
              <a:gd name="adj" fmla="val 10000"/>
            </a:avLst>
          </a:prstGeom>
          <a:solidFill>
            <a:schemeClr val="accent1">
              <a:alpha val="15000"/>
            </a:schemeClr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6821424" y="384048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Set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no duplicate vehicles in DP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F7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2A"/>
                </a:solidFill>
              </a:rPr>
              <a:t>System Architecture</a:t>
            </a:r>
            <a:endParaRPr lang="en-US" sz="3000" dirty="0"/>
          </a:p>
        </p:txBody>
      </p:sp>
      <p:sp>
        <p:nvSpPr>
          <p:cNvPr id="3" name="Box EV Requests + Stations"/>
          <p:cNvSpPr/>
          <p:nvPr/>
        </p:nvSpPr>
        <p:spPr>
          <a:xfrm>
            <a:off x="457200" y="2103120"/>
            <a:ext cx="1737360" cy="685800"/>
          </a:xfrm>
          <a:prstGeom prst="roundRect">
            <a:avLst>
              <a:gd name="adj" fmla="val 10667"/>
            </a:avLst>
          </a:prstGeom>
          <a:solidFill>
            <a:schemeClr val="tx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210312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EV Requests + Stations</a:t>
            </a:r>
            <a:endParaRPr lang="en-US" sz="1300" dirty="0"/>
          </a:p>
        </p:txBody>
      </p:sp>
      <p:sp>
        <p:nvSpPr>
          <p:cNvPr id="5" name="Arrow"/>
          <p:cNvSpPr/>
          <p:nvPr/>
        </p:nvSpPr>
        <p:spPr>
          <a:xfrm>
            <a:off x="2194560" y="2446020"/>
            <a:ext cx="457200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6" name="Box Validation (models.py)"/>
          <p:cNvSpPr/>
          <p:nvPr/>
        </p:nvSpPr>
        <p:spPr>
          <a:xfrm>
            <a:off x="2651760" y="2103120"/>
            <a:ext cx="1737360" cy="685800"/>
          </a:xfrm>
          <a:prstGeom prst="roundRect">
            <a:avLst>
              <a:gd name="adj" fmla="val 10667"/>
            </a:avLst>
          </a:prstGeom>
          <a:solidFill>
            <a:schemeClr val="accent3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2651760" y="210312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Validation (models.py)</a:t>
            </a:r>
            <a:endParaRPr lang="en-US" sz="1300" dirty="0"/>
          </a:p>
        </p:txBody>
      </p:sp>
      <p:sp>
        <p:nvSpPr>
          <p:cNvPr id="8" name="Arrow"/>
          <p:cNvSpPr/>
          <p:nvPr/>
        </p:nvSpPr>
        <p:spPr>
          <a:xfrm>
            <a:off x="4389120" y="2446020"/>
            <a:ext cx="457200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9" name="Box EVChargingScheduler"/>
          <p:cNvSpPr/>
          <p:nvPr/>
        </p:nvSpPr>
        <p:spPr>
          <a:xfrm>
            <a:off x="4846320" y="2103120"/>
            <a:ext cx="1737360" cy="685800"/>
          </a:xfrm>
          <a:prstGeom prst="roundRect">
            <a:avLst>
              <a:gd name="adj" fmla="val 10667"/>
            </a:avLst>
          </a:prstGeom>
          <a:solidFill>
            <a:schemeClr val="accent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846320" y="210312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EVChargingScheduler</a:t>
            </a:r>
            <a:endParaRPr lang="en-US" sz="1300" dirty="0"/>
          </a:p>
        </p:txBody>
      </p:sp>
      <p:sp>
        <p:nvSpPr>
          <p:cNvPr id="11" name="Arrow"/>
          <p:cNvSpPr/>
          <p:nvPr/>
        </p:nvSpPr>
        <p:spPr>
          <a:xfrm>
            <a:off x="6583680" y="2286000"/>
            <a:ext cx="457200" cy="-64008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2" name="Arrow"/>
          <p:cNvSpPr/>
          <p:nvPr/>
        </p:nvSpPr>
        <p:spPr>
          <a:xfrm>
            <a:off x="6583680" y="2606040"/>
            <a:ext cx="457200" cy="64008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3" name="Box Greedy"/>
          <p:cNvSpPr/>
          <p:nvPr/>
        </p:nvSpPr>
        <p:spPr>
          <a:xfrm>
            <a:off x="7040880" y="1325880"/>
            <a:ext cx="1645920" cy="685800"/>
          </a:xfrm>
          <a:prstGeom prst="roundRect">
            <a:avLst>
              <a:gd name="adj" fmla="val 10667"/>
            </a:avLst>
          </a:prstGeom>
          <a:solidFill>
            <a:schemeClr val="accent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040880" y="132588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Greedy</a:t>
            </a:r>
            <a:endParaRPr lang="en-US" sz="1300" dirty="0"/>
          </a:p>
        </p:txBody>
      </p:sp>
      <p:sp>
        <p:nvSpPr>
          <p:cNvPr id="15" name="Box Dynamic Programming"/>
          <p:cNvSpPr/>
          <p:nvPr/>
        </p:nvSpPr>
        <p:spPr>
          <a:xfrm>
            <a:off x="7040880" y="2926080"/>
            <a:ext cx="1645920" cy="685800"/>
          </a:xfrm>
          <a:prstGeom prst="roundRect">
            <a:avLst>
              <a:gd name="adj" fmla="val 10667"/>
            </a:avLst>
          </a:prstGeom>
          <a:solidFill>
            <a:schemeClr val="accent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040880" y="292608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Dynamic Programming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3"/>
                </a:solidFill>
              </a:rPr>
              <a:t>→ ScheduleResult: sessions, rejected IDs, total kWh, total cost → CLI output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128016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Files: models.py • scheduler.py • ev_charging_demo.py • tests/test_ev_charging.py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F7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2A"/>
                </a:solidFill>
              </a:rPr>
              <a:t>Greedy: Urgency-First Assignment</a:t>
            </a:r>
            <a:endParaRPr lang="en-US" sz="3000" dirty="0"/>
          </a:p>
        </p:txBody>
      </p:sp>
      <p:sp>
        <p:nvSpPr>
          <p:cNvPr id="3" name="Step 1"/>
          <p:cNvSpPr/>
          <p:nvPr/>
        </p:nvSpPr>
        <p:spPr>
          <a:xfrm>
            <a:off x="457200" y="12344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123444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Sort by earliest departure, higher priority, lower energy, earlier arrival</a:t>
            </a:r>
            <a:endParaRPr lang="en-US" sz="1400" dirty="0"/>
          </a:p>
        </p:txBody>
      </p:sp>
      <p:sp>
        <p:nvSpPr>
          <p:cNvPr id="6" name="Step 2"/>
          <p:cNvSpPr/>
          <p:nvPr/>
        </p:nvSpPr>
        <p:spPr>
          <a:xfrm>
            <a:off x="457200" y="1892808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57200" y="1892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1892808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Compute duration per station: ceil(kWh ÷ power)</a:t>
            </a:r>
            <a:endParaRPr lang="en-US" sz="1400" dirty="0"/>
          </a:p>
        </p:txBody>
      </p:sp>
      <p:sp>
        <p:nvSpPr>
          <p:cNvPr id="9" name="Step 3"/>
          <p:cNvSpPr/>
          <p:nvPr/>
        </p:nvSpPr>
        <p:spPr>
          <a:xfrm>
            <a:off x="457200" y="2551176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57200" y="25511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2551176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Scan feasible start slots from arrival to latest start</a:t>
            </a:r>
            <a:endParaRPr lang="en-US" sz="1400" dirty="0"/>
          </a:p>
        </p:txBody>
      </p:sp>
      <p:sp>
        <p:nvSpPr>
          <p:cNvPr id="12" name="Step 4"/>
          <p:cNvSpPr/>
          <p:nvPr/>
        </p:nvSpPr>
        <p:spPr>
          <a:xfrm>
            <a:off x="457200" y="3209544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57200" y="32095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3209544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Pick the earliest-ending candidate (cost, start as tie-breaks)</a:t>
            </a:r>
            <a:endParaRPr lang="en-US" sz="1400" dirty="0"/>
          </a:p>
        </p:txBody>
      </p:sp>
      <p:sp>
        <p:nvSpPr>
          <p:cNvPr id="15" name="Step 5"/>
          <p:cNvSpPr/>
          <p:nvPr/>
        </p:nvSpPr>
        <p:spPr>
          <a:xfrm>
            <a:off x="457200" y="3867912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57200" y="3867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" y="3867912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Reserve interval, or reject if nothing feasible</a:t>
            </a:r>
            <a:endParaRPr lang="en-US" sz="1400" dirty="0"/>
          </a:p>
        </p:txBody>
      </p:sp>
      <p:sp>
        <p:nvSpPr>
          <p:cNvPr id="18" name="Formula card"/>
          <p:cNvSpPr/>
          <p:nvPr/>
        </p:nvSpPr>
        <p:spPr>
          <a:xfrm>
            <a:off x="6309360" y="1234440"/>
            <a:ext cx="2377440" cy="320040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492240" y="14173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Duration rule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492240" y="182880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ceil(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energy_needed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÷ power_per_slot)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6492240" y="320040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7C7CD"/>
                </a:solidFill>
              </a:rPr>
              <a:t>Adjacent slots [0,2) and [2,4) do not overlap.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F7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2A"/>
                </a:solidFill>
              </a:rPr>
              <a:t>Dynamic Programming: Weighted Intervals</a:t>
            </a:r>
            <a:endParaRPr lang="en-US" sz="3000" dirty="0"/>
          </a:p>
        </p:txBody>
      </p:sp>
      <p:sp>
        <p:nvSpPr>
          <p:cNvPr id="3" name="Recurrence card"/>
          <p:cNvSpPr/>
          <p:nvPr/>
        </p:nvSpPr>
        <p:spPr>
          <a:xfrm>
            <a:off x="457200" y="1234440"/>
            <a:ext cx="8229600" cy="91440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2344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DP[i] = max( value[i] + DP[p(i)+1],  DP[i−1] )</a:t>
            </a:r>
            <a:endParaRPr lang="en-US" sz="2200" dirty="0"/>
          </a:p>
        </p:txBody>
      </p:sp>
      <p:sp>
        <p:nvSpPr>
          <p:cNvPr id="5" name="Col How it works"/>
          <p:cNvSpPr/>
          <p:nvPr/>
        </p:nvSpPr>
        <p:spPr>
          <a:xfrm>
            <a:off x="457200" y="2423160"/>
            <a:ext cx="4023360" cy="2103120"/>
          </a:xfrm>
          <a:prstGeom prst="roundRect">
            <a:avLst>
              <a:gd name="adj" fmla="val 4348"/>
            </a:avLst>
          </a:prstGeom>
          <a:solidFill>
            <a:schemeClr val="bg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26060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3017520"/>
            <a:ext cx="3566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One earliest-start candidate per request and station. Value = priority × energy. Stations processed by lower cost, higher power. Chosen IDs removed before next station.</a:t>
            </a:r>
            <a:endParaRPr lang="en-US" sz="1400" dirty="0"/>
          </a:p>
        </p:txBody>
      </p:sp>
      <p:sp>
        <p:nvSpPr>
          <p:cNvPr id="8" name="Col Limitation"/>
          <p:cNvSpPr/>
          <p:nvPr/>
        </p:nvSpPr>
        <p:spPr>
          <a:xfrm>
            <a:off x="4663440" y="2423160"/>
            <a:ext cx="4023360" cy="2103120"/>
          </a:xfrm>
          <a:prstGeom prst="roundRect">
            <a:avLst>
              <a:gd name="adj" fmla="val 4348"/>
            </a:avLst>
          </a:prstGeom>
          <a:solidFill>
            <a:srgbClr val="FDF1D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892040" y="26060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A5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4892040" y="3017520"/>
            <a:ext cx="3566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simplified heuristic, not a global optimizer: one candidate per request, stations handled sequentially.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F7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2A"/>
                </a:solidFill>
              </a:rPr>
              <a:t>Demo Configuration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338328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1280160"/>
                <a:gridCol w="109728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Power / slot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/ slot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CS-01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kWh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CS-02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 kWh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CS-03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kWh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206240" y="1280160"/>
          <a:ext cx="448056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731520"/>
                <a:gridCol w="731520"/>
                <a:gridCol w="1097280"/>
                <a:gridCol w="82296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Vehicle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Arr.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Energy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EV-101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 kWh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EV-102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 kWh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EV-103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 kWh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EV-104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 kWh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EV-105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 kWh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EV-106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 kWh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457200" y="3200400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3 stations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6 requests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fixed, repeatable input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F7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2A"/>
                </a:solidFill>
              </a:rPr>
              <a:t>Results: Same Energy, Different Cost</a:t>
            </a:r>
            <a:endParaRPr lang="en-US" sz="3000" dirty="0"/>
          </a:p>
        </p:txBody>
      </p:sp>
      <p:sp>
        <p:nvSpPr>
          <p:cNvPr id="3" name="Stat 0"/>
          <p:cNvSpPr/>
          <p:nvPr/>
        </p:nvSpPr>
        <p:spPr>
          <a:xfrm>
            <a:off x="457200" y="1234440"/>
            <a:ext cx="310896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30759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/ 6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10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requests scheduled by both</a:t>
            </a:r>
            <a:endParaRPr lang="en-US" sz="1300" dirty="0"/>
          </a:p>
        </p:txBody>
      </p:sp>
      <p:sp>
        <p:nvSpPr>
          <p:cNvPr id="6" name="Stat 1"/>
          <p:cNvSpPr/>
          <p:nvPr/>
        </p:nvSpPr>
        <p:spPr>
          <a:xfrm>
            <a:off x="457200" y="2331720"/>
            <a:ext cx="3108960" cy="960120"/>
          </a:xfrm>
          <a:prstGeom prst="roundRect">
            <a:avLst>
              <a:gd name="adj" fmla="val 9524"/>
            </a:avLst>
          </a:prstGeom>
          <a:solidFill>
            <a:schemeClr val="tx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" y="240487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240 kWh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9077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delivered by each strategy</a:t>
            </a:r>
            <a:endParaRPr lang="en-US" sz="1300" dirty="0"/>
          </a:p>
        </p:txBody>
      </p:sp>
      <p:sp>
        <p:nvSpPr>
          <p:cNvPr id="9" name="Stat 2"/>
          <p:cNvSpPr/>
          <p:nvPr/>
        </p:nvSpPr>
        <p:spPr>
          <a:xfrm>
            <a:off x="457200" y="3429000"/>
            <a:ext cx="310896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0080" y="350215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40050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rejected vehicles</a:t>
            </a:r>
            <a:endParaRPr lang="en-US" sz="130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3931920" y="1188720"/>
          <a:ext cx="475488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3" name="Text 10"/>
          <p:cNvSpPr txBox="1"/>
          <p:nvPr/>
        </p:nvSpPr>
        <p:spPr>
          <a:xfrm>
            <a:off x="3931920" y="397764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DP maximises priority × energy, not minimum cost, so a higher cost fits its objective. One demo can't prove either method is always better.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F7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2A"/>
                </a:solidFill>
              </a:rPr>
              <a:t>Schedule Comparison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Greedy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4663440" y="10972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Dynamic Programming</a:t>
            </a:r>
            <a:endParaRPr lang="en-US" sz="1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384048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822960"/>
                <a:gridCol w="1005840"/>
                <a:gridCol w="9144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Vehicle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38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38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Slots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38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38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EV-101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CS-01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0–2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EV-102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CS-02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0–1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EV-103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CS-02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1–3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EV-104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CS-01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2–4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EV-105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CS-02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3–5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EV-106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CS-03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4–6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72.00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463040"/>
          <a:ext cx="402336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822960"/>
                <a:gridCol w="1097280"/>
                <a:gridCol w="9144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Vehicle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Slots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EV-102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CS-02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0–1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EV-101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CS-03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0–3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EV-103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CS-01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1–4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EV-104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CS-02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2–4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EV-105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CS-03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3–7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EV-106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CS-01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4–6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82.00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F7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2A"/>
                </a:solidFill>
              </a:rPr>
              <a:t>Quality, Testing &amp; Limits</a:t>
            </a:r>
            <a:endParaRPr lang="en-US" sz="3000" dirty="0"/>
          </a:p>
        </p:txBody>
      </p:sp>
      <p:sp>
        <p:nvSpPr>
          <p:cNvPr id="3" name="Testing card"/>
          <p:cNvSpPr/>
          <p:nvPr/>
        </p:nvSpPr>
        <p:spPr>
          <a:xfrm>
            <a:off x="457200" y="1234440"/>
            <a:ext cx="4023360" cy="3291840"/>
          </a:xfrm>
          <a:prstGeom prst="roundRect">
            <a:avLst>
              <a:gd name="adj" fmla="val 2778"/>
            </a:avLst>
          </a:prstGeom>
          <a:solidFill>
            <a:schemeClr val="tx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85800" y="137160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/ 3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1031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pytest tests passed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560320"/>
            <a:ext cx="3566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Greedy yields a schedule with positive energy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DP schedules with unique vehicle IDs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Invalid request raises ValueError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846320" y="12344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4846320" y="1691640"/>
            <a:ext cx="38404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Integer time slots, no real timestamps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No battery state, charging curves or grid load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DP uses a limited candidate set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Simple cost per slot, no real tariffs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No timing benchmark run; no speed claims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F7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Future Scope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5E3E7"/>
                </a:solidFill>
              </a:rPr>
              <a:t>Algorithm choice reflects the objective: greedy favours early departures and feasibility; DP favours priority-weighted energy. Broader experiments are needed before general claims.</a:t>
            </a:r>
            <a:endParaRPr lang="en-US" sz="1600" dirty="0"/>
          </a:p>
        </p:txBody>
      </p:sp>
      <p:sp>
        <p:nvSpPr>
          <p:cNvPr id="4" name="Future 1"/>
          <p:cNvSpPr/>
          <p:nvPr/>
        </p:nvSpPr>
        <p:spPr>
          <a:xfrm>
            <a:off x="548640" y="2423160"/>
            <a:ext cx="2560320" cy="868680"/>
          </a:xfrm>
          <a:prstGeom prst="roundRect">
            <a:avLst>
              <a:gd name="adj" fmla="val 8421"/>
            </a:avLst>
          </a:prstGeom>
          <a:solidFill>
            <a:schemeClr val="accent1">
              <a:alpha val="25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242316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Real timestamps &amp; time-based tariffs</a:t>
            </a:r>
            <a:endParaRPr lang="en-US" sz="1300" dirty="0"/>
          </a:p>
        </p:txBody>
      </p:sp>
      <p:sp>
        <p:nvSpPr>
          <p:cNvPr id="6" name="Future 2"/>
          <p:cNvSpPr/>
          <p:nvPr/>
        </p:nvSpPr>
        <p:spPr>
          <a:xfrm>
            <a:off x="3291840" y="2423160"/>
            <a:ext cx="2560320" cy="868680"/>
          </a:xfrm>
          <a:prstGeom prst="roundRect">
            <a:avLst>
              <a:gd name="adj" fmla="val 8421"/>
            </a:avLst>
          </a:prstGeom>
          <a:solidFill>
            <a:schemeClr val="accent1">
              <a:alpha val="25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429000" y="242316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Joint optimisation across stations and start times</a:t>
            </a:r>
            <a:endParaRPr lang="en-US" sz="1300" dirty="0"/>
          </a:p>
        </p:txBody>
      </p:sp>
      <p:sp>
        <p:nvSpPr>
          <p:cNvPr id="8" name="Future 3"/>
          <p:cNvSpPr/>
          <p:nvPr/>
        </p:nvSpPr>
        <p:spPr>
          <a:xfrm>
            <a:off x="6035040" y="2423160"/>
            <a:ext cx="2560320" cy="868680"/>
          </a:xfrm>
          <a:prstGeom prst="roundRect">
            <a:avLst>
              <a:gd name="adj" fmla="val 8421"/>
            </a:avLst>
          </a:prstGeom>
          <a:solidFill>
            <a:schemeClr val="accent1">
              <a:alpha val="25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172200" y="242316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Fairness, waiting-time and grid-load objectives</a:t>
            </a:r>
            <a:endParaRPr lang="en-US" sz="1300" dirty="0"/>
          </a:p>
        </p:txBody>
      </p:sp>
      <p:sp>
        <p:nvSpPr>
          <p:cNvPr id="10" name="Future 4"/>
          <p:cNvSpPr/>
          <p:nvPr/>
        </p:nvSpPr>
        <p:spPr>
          <a:xfrm>
            <a:off x="548640" y="3429000"/>
            <a:ext cx="2560320" cy="868680"/>
          </a:xfrm>
          <a:prstGeom prst="roundRect">
            <a:avLst>
              <a:gd name="adj" fmla="val 8421"/>
            </a:avLst>
          </a:prstGeom>
          <a:solidFill>
            <a:schemeClr val="accent1">
              <a:alpha val="25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5800" y="342900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Web dashboard, database and charger telemetry API</a:t>
            </a:r>
            <a:endParaRPr lang="en-US" sz="1300" dirty="0"/>
          </a:p>
        </p:txBody>
      </p:sp>
      <p:sp>
        <p:nvSpPr>
          <p:cNvPr id="12" name="Future 5"/>
          <p:cNvSpPr/>
          <p:nvPr/>
        </p:nvSpPr>
        <p:spPr>
          <a:xfrm>
            <a:off x="3291840" y="3429000"/>
            <a:ext cx="2560320" cy="868680"/>
          </a:xfrm>
          <a:prstGeom prst="roundRect">
            <a:avLst>
              <a:gd name="adj" fmla="val 8421"/>
            </a:avLst>
          </a:prstGeom>
          <a:solidFill>
            <a:schemeClr val="accent1">
              <a:alpha val="25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429000" y="342900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Larger benchmarks with repeated runtime/quality runs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44348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Thank you  •  Questions?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FB4B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V Charge">
  <a:themeElements>
    <a:clrScheme name="EV Charge">
      <a:dk1>
        <a:srgbClr val="0B1F2A"/>
      </a:dk1>
      <a:lt1>
        <a:srgbClr val="FFFFFF"/>
      </a:lt1>
      <a:dk2>
        <a:srgbClr val="12343B"/>
      </a:dk2>
      <a:lt2>
        <a:srgbClr val="EAF4F1"/>
      </a:lt2>
      <a:accent1>
        <a:srgbClr val="00B386"/>
      </a:accent1>
      <a:accent2>
        <a:srgbClr val="C6F135"/>
      </a:accent2>
      <a:accent3>
        <a:srgbClr val="1C7293"/>
      </a:accent3>
      <a:accent4>
        <a:srgbClr val="F2A541"/>
      </a:accent4>
      <a:accent5>
        <a:srgbClr val="5B6F78"/>
      </a:accent5>
      <a:accent6>
        <a:srgbClr val="E4572E"/>
      </a:accent6>
      <a:hlink>
        <a:srgbClr val="1C7293"/>
      </a:hlink>
      <a:folHlink>
        <a:srgbClr val="5B6F78"/>
      </a:folHlink>
    </a:clrScheme>
    <a:fontScheme name="EV Charg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 Charging Station Scheduling and Energy Optimization</dc:title>
  <dc:subject>PptxGenJS Presentation</dc:subject>
  <dc:creator>PptxGenJS</dc:creator>
  <cp:lastModifiedBy>PptxGenJS</cp:lastModifiedBy>
  <cp:revision>1</cp:revision>
  <dcterms:created xsi:type="dcterms:W3CDTF">2026-10-14T08:45:37Z</dcterms:created>
  <dcterms:modified xsi:type="dcterms:W3CDTF">2026-10-14T08:45:37Z</dcterms:modified>
</cp:coreProperties>
</file>